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Merriweather Black"/>
      <p:bold r:id="rId17"/>
      <p:boldItalic r:id="rId18"/>
    </p:embeddedFont>
    <p:embeddedFont>
      <p:font typeface="Merriweather"/>
      <p:regular r:id="rId19"/>
      <p:bold r:id="rId20"/>
      <p:italic r:id="rId21"/>
      <p:boldItalic r:id="rId22"/>
    </p:embeddedFont>
    <p:embeddedFont>
      <p:font typeface="Open Sans Light"/>
      <p:regular r:id="rId23"/>
      <p:bold r:id="rId24"/>
      <p:italic r:id="rId25"/>
      <p:boldItalic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.fntdata"/><Relationship Id="rId22" Type="http://schemas.openxmlformats.org/officeDocument/2006/relationships/font" Target="fonts/Merriweather-boldItalic.fntdata"/><Relationship Id="rId21" Type="http://schemas.openxmlformats.org/officeDocument/2006/relationships/font" Target="fonts/Merriweather-italic.fntdata"/><Relationship Id="rId24" Type="http://schemas.openxmlformats.org/officeDocument/2006/relationships/font" Target="fonts/OpenSansLight-bold.fntdata"/><Relationship Id="rId23" Type="http://schemas.openxmlformats.org/officeDocument/2006/relationships/font" Target="fonts/OpenSansLigh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Light-boldItalic.fntdata"/><Relationship Id="rId25" Type="http://schemas.openxmlformats.org/officeDocument/2006/relationships/font" Target="fonts/OpenSansLight-italic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erriweatherBlack-bold.fntdata"/><Relationship Id="rId16" Type="http://schemas.openxmlformats.org/officeDocument/2006/relationships/slide" Target="slides/slide11.xml"/><Relationship Id="rId19" Type="http://schemas.openxmlformats.org/officeDocument/2006/relationships/font" Target="fonts/Merriweather-regular.fntdata"/><Relationship Id="rId18" Type="http://schemas.openxmlformats.org/officeDocument/2006/relationships/font" Target="fonts/MerriweatherBlack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7.png"/><Relationship Id="rId6" Type="http://schemas.openxmlformats.org/officeDocument/2006/relationships/image" Target="../media/image3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20.png"/><Relationship Id="rId6" Type="http://schemas.openxmlformats.org/officeDocument/2006/relationships/image" Target="../media/image5.png"/><Relationship Id="rId7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0.png"/><Relationship Id="rId10" Type="http://schemas.openxmlformats.org/officeDocument/2006/relationships/image" Target="../media/image26.png"/><Relationship Id="rId13" Type="http://schemas.openxmlformats.org/officeDocument/2006/relationships/image" Target="../media/image16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image" Target="../media/image14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0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Relationship Id="rId9" Type="http://schemas.openxmlformats.org/officeDocument/2006/relationships/image" Target="../media/image37.png"/><Relationship Id="rId5" Type="http://schemas.openxmlformats.org/officeDocument/2006/relationships/image" Target="../media/image36.png"/><Relationship Id="rId6" Type="http://schemas.openxmlformats.org/officeDocument/2006/relationships/image" Target="../media/image23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3.png"/><Relationship Id="rId6" Type="http://schemas.openxmlformats.org/officeDocument/2006/relationships/image" Target="../media/image31.png"/><Relationship Id="rId7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952500" y="2236589"/>
            <a:ext cx="10801350" cy="1462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Customer Shopping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4800" u="none" cap="none" strike="noStrike">
                <a:solidFill>
                  <a:srgbClr val="FFFFFF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 Behavior Analysis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143000" y="3890069"/>
            <a:ext cx="74295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Uncovering insights from 3,900 purchases to guide strategic business decisions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952500" y="3890069"/>
            <a:ext cx="38100" cy="73134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" y="2150715"/>
            <a:ext cx="3429000" cy="3461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0" y="2150715"/>
            <a:ext cx="3429000" cy="3461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0" y="2150715"/>
            <a:ext cx="3429000" cy="346129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666750" y="55245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Dataset Overview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666750" y="1000125"/>
            <a:ext cx="57150" cy="3619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962025" y="3350865"/>
            <a:ext cx="2838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F172A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3,900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62025" y="3969990"/>
            <a:ext cx="298037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Total Purchases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62025" y="4398615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Comprehensive transaction data analyzed to uncover core buying patterns.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676775" y="3350865"/>
            <a:ext cx="2838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F172A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18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676775" y="3969990"/>
            <a:ext cx="298037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Data Columns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676775" y="4398615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In-depth customer demographics and detailed shopping behavior metrics.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391525" y="3350865"/>
            <a:ext cx="2838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F172A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37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391525" y="3969990"/>
            <a:ext cx="298037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Missing Values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391525" y="4398615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High data integrity; missing values found only within the Review Rating column.</a:t>
            </a:r>
            <a:endParaRPr/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2025" y="2646015"/>
            <a:ext cx="4476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76775" y="2646015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91525" y="2646015"/>
            <a:ext cx="400050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666750" y="55245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Data Preparation Process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666750" y="1000125"/>
            <a:ext cx="57150" cy="3619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666750" y="4119562"/>
            <a:ext cx="108585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666750" y="4357687"/>
            <a:ext cx="195441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706"/>
                </a:solidFill>
                <a:latin typeface="Open Sans"/>
                <a:ea typeface="Open Sans"/>
                <a:cs typeface="Open Sans"/>
                <a:sym typeface="Open Sans"/>
              </a:rPr>
              <a:t>STEP 01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17889" y="4586287"/>
            <a:ext cx="205213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Data Loading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66750" y="4938712"/>
            <a:ext cx="195441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Imported the raw dataset securely using pandas structures.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2892772" y="2873871"/>
            <a:ext cx="195441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706"/>
                </a:solidFill>
                <a:latin typeface="Open Sans"/>
                <a:ea typeface="Open Sans"/>
                <a:cs typeface="Open Sans"/>
                <a:sym typeface="Open Sans"/>
              </a:rPr>
              <a:t>STEP 02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2843911" y="3102471"/>
            <a:ext cx="205213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Initial Exploration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2892772" y="3454896"/>
            <a:ext cx="195441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Conducted structure checks and summary statistics.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5118794" y="4357687"/>
            <a:ext cx="195441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706"/>
                </a:solidFill>
                <a:latin typeface="Open Sans"/>
                <a:ea typeface="Open Sans"/>
                <a:cs typeface="Open Sans"/>
                <a:sym typeface="Open Sans"/>
              </a:rPr>
              <a:t>STEP 03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5069934" y="4586287"/>
            <a:ext cx="205213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Missing Data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5118794" y="4938712"/>
            <a:ext cx="195441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Imputed missing values within Review Rating using medians.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7344816" y="2422475"/>
            <a:ext cx="195441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706"/>
                </a:solidFill>
                <a:latin typeface="Open Sans"/>
                <a:ea typeface="Open Sans"/>
                <a:cs typeface="Open Sans"/>
                <a:sym typeface="Open Sans"/>
              </a:rPr>
              <a:t>STEP 04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7295956" y="2651075"/>
            <a:ext cx="2052131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Feature Engineering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7344816" y="3241625"/>
            <a:ext cx="195441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Created age groups and categorized purchase frequency.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9570839" y="4357687"/>
            <a:ext cx="195441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706"/>
                </a:solidFill>
                <a:latin typeface="Open Sans"/>
                <a:ea typeface="Open Sans"/>
                <a:cs typeface="Open Sans"/>
                <a:sym typeface="Open Sans"/>
              </a:rPr>
              <a:t>STEP 05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9521978" y="4586287"/>
            <a:ext cx="2052131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Database Integration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9570839" y="5176837"/>
            <a:ext cx="195441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Connected to PostgreSQL for robust downstream analysis.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1567755" y="4043362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3793777" y="4043362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6019800" y="4043362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8245822" y="4043362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10471844" y="4043362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" y="1381125"/>
            <a:ext cx="10858500" cy="500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666750" y="55245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Revenue by Gender Analysis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666750" y="1000125"/>
            <a:ext cx="57150" cy="3619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595437"/>
            <a:ext cx="51435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666750" y="55245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Discount Usage Optimization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666750" y="1000125"/>
            <a:ext cx="57150" cy="3619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95437"/>
            <a:ext cx="51435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1047750" y="2012900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High-Value Discount Users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1047750" y="2424261"/>
            <a:ext cx="4762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Customers using discounts while maintaining a spending average above the baseline.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047750" y="3258591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Smart Shoppers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047750" y="3669952"/>
            <a:ext cx="4762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High spenders who actively maximize value by utilizing available discount codes.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1047750" y="4504283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Strategic Opportunity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047750" y="4915644"/>
            <a:ext cx="4762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Target premium customers with exclusive, tier-based offers to drive further volume.</a:t>
            </a:r>
            <a:endParaRPr/>
          </a:p>
        </p:txBody>
      </p:sp>
      <p:pic>
        <p:nvPicPr>
          <p:cNvPr descr="image.png" id="162" name="Google Shape;16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20462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329192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" y="4537620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" y="1522065"/>
            <a:ext cx="3429000" cy="4718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0" y="1522065"/>
            <a:ext cx="3429000" cy="4718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0" y="1522065"/>
            <a:ext cx="3429000" cy="4718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1531590"/>
            <a:ext cx="340995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1025" y="1531590"/>
            <a:ext cx="340995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05775" y="1531590"/>
            <a:ext cx="340995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666750" y="55245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Top-Rated Products Category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666750" y="1000125"/>
            <a:ext cx="57150" cy="3619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8" name="Google Shape;17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1722090"/>
            <a:ext cx="3028950" cy="227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914400" y="4741515"/>
            <a:ext cx="30803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5 Star: Blouse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914400" y="5170140"/>
            <a:ext cx="29337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Highest customer satisfaction ratings across all apparel categories.</a:t>
            </a:r>
            <a:endParaRPr/>
          </a:p>
        </p:txBody>
      </p:sp>
      <p:pic>
        <p:nvPicPr>
          <p:cNvPr descr="image.png" id="181" name="Google Shape;18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81525" y="1722090"/>
            <a:ext cx="3028950" cy="227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4629150" y="4741515"/>
            <a:ext cx="30803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5 Star: Dress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4629150" y="5170140"/>
            <a:ext cx="29337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Consistently excellent reviews detailing fit, material, and design.</a:t>
            </a:r>
            <a:endParaRPr/>
          </a:p>
        </p:txBody>
      </p:sp>
      <p:pic>
        <p:nvPicPr>
          <p:cNvPr descr="image.png" id="184" name="Google Shape;184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96275" y="1722090"/>
            <a:ext cx="3028950" cy="227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8343900" y="4741515"/>
            <a:ext cx="30803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4 Star: Shirt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8343900" y="5170140"/>
            <a:ext cx="29337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Strong customer approval and solid performance in daily wear.</a:t>
            </a:r>
            <a:endParaRPr/>
          </a:p>
        </p:txBody>
      </p:sp>
      <p:pic>
        <p:nvPicPr>
          <p:cNvPr descr="image.png" id="187" name="Google Shape;187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4400" y="446529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04900" y="446529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95400" y="446529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85900" y="446529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676400" y="446529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29150" y="446529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19650" y="446529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010150" y="446529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200650" y="446529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391150" y="446529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343900" y="446529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34400" y="446529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724900" y="446529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915400" y="446529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105900" y="4465290"/>
            <a:ext cx="1905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" y="1381125"/>
            <a:ext cx="10858500" cy="500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9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666750" y="55245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Shipping Preferences Impact</a:t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666750" y="1000125"/>
            <a:ext cx="57150" cy="3619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666750" y="55245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Subscription Impact &amp; Loyalty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666750" y="1000125"/>
            <a:ext cx="57150" cy="3619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1276350" y="2811809"/>
            <a:ext cx="24003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0" u="none" cap="none" strike="noStrike">
                <a:solidFill>
                  <a:srgbClr val="1E3A8A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68%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1781175" y="4002434"/>
            <a:ext cx="1390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Higher Spend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1047750" y="4383434"/>
            <a:ext cx="2857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Subscribers compared to non-subscribers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4910137" y="2811809"/>
            <a:ext cx="237172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0" u="none" cap="none" strike="noStrike">
                <a:solidFill>
                  <a:srgbClr val="1E3A8A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78%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5319712" y="4002434"/>
            <a:ext cx="15525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Revenue Share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4667250" y="4383434"/>
            <a:ext cx="2857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Generated strictly from subscription customers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9053512" y="4021484"/>
            <a:ext cx="1323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Loyalty Rate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8286750" y="4402484"/>
            <a:ext cx="2857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Consistently high repeat purchase frequency</a:t>
            </a:r>
            <a:endParaRPr/>
          </a:p>
        </p:txBody>
      </p:sp>
      <p:pic>
        <p:nvPicPr>
          <p:cNvPr descr="image.png" id="225" name="Google Shape;22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91625" y="2811809"/>
            <a:ext cx="1047750" cy="104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" y="1381125"/>
            <a:ext cx="10858500" cy="500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666750" y="55245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Customer Segmentation Profile</a:t>
            </a:r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666750" y="1000125"/>
            <a:ext cx="57150" cy="3619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" y="2256532"/>
            <a:ext cx="5286375" cy="14820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5" y="2256532"/>
            <a:ext cx="5286375" cy="14820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4024312"/>
            <a:ext cx="5286375" cy="14820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4024312"/>
            <a:ext cx="5286375" cy="148203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666750" y="55245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Strategic Recommendations</a:t>
            </a:r>
            <a:endParaRPr/>
          </a:p>
        </p:txBody>
      </p:sp>
      <p:sp>
        <p:nvSpPr>
          <p:cNvPr id="244" name="Google Shape;244;p22"/>
          <p:cNvSpPr/>
          <p:nvPr/>
        </p:nvSpPr>
        <p:spPr>
          <a:xfrm>
            <a:off x="666750" y="1000125"/>
            <a:ext cx="57150" cy="3619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5" name="Google Shape;24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0600" y="2551807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62725" y="2551807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0600" y="4319587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62725" y="4319587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28712" y="2708969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2"/>
          <p:cNvSpPr txBox="1"/>
          <p:nvPr/>
        </p:nvSpPr>
        <p:spPr>
          <a:xfrm>
            <a:off x="1847850" y="2551807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Boost Subscriptions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1847850" y="2894707"/>
            <a:ext cx="3810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Promote exclusive, high-value benefits specifically designed for active subscribers.</a:t>
            </a:r>
            <a:endParaRPr/>
          </a:p>
        </p:txBody>
      </p:sp>
      <p:pic>
        <p:nvPicPr>
          <p:cNvPr descr="image.png" id="252" name="Google Shape;25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19887" y="2708969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2"/>
          <p:cNvSpPr txBox="1"/>
          <p:nvPr/>
        </p:nvSpPr>
        <p:spPr>
          <a:xfrm>
            <a:off x="7419975" y="2551807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Loyalty Programs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7419975" y="2894707"/>
            <a:ext cx="3810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Reward repeat buyers systematically to increase long-term customer retention.</a:t>
            </a:r>
            <a:endParaRPr/>
          </a:p>
        </p:txBody>
      </p:sp>
      <p:pic>
        <p:nvPicPr>
          <p:cNvPr descr="image.png" id="255" name="Google Shape;255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47762" y="44767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2"/>
          <p:cNvSpPr txBox="1"/>
          <p:nvPr/>
        </p:nvSpPr>
        <p:spPr>
          <a:xfrm>
            <a:off x="1847850" y="4319587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Targeted Marketing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1847850" y="4662487"/>
            <a:ext cx="3810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Focus marketing spend heavily on high-revenue segments and express shipping users.</a:t>
            </a:r>
            <a:endParaRPr/>
          </a:p>
        </p:txBody>
      </p:sp>
      <p:pic>
        <p:nvPicPr>
          <p:cNvPr descr="image.png" id="258" name="Google Shape;258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00837" y="4476750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2"/>
          <p:cNvSpPr txBox="1"/>
          <p:nvPr/>
        </p:nvSpPr>
        <p:spPr>
          <a:xfrm>
            <a:off x="7419975" y="4319587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Product Positioning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7419975" y="4662487"/>
            <a:ext cx="3810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Highlight top-rated products prominently in all major acquisition campaigns.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 txBox="1"/>
          <p:nvPr/>
        </p:nvSpPr>
        <p:spPr>
          <a:xfrm>
            <a:off x="666750" y="55245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267" name="Google Shape;267;p23"/>
          <p:cNvSpPr/>
          <p:nvPr/>
        </p:nvSpPr>
        <p:spPr>
          <a:xfrm>
            <a:off x="666750" y="1000125"/>
            <a:ext cx="57150" cy="3619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666750" y="1528018"/>
            <a:ext cx="108585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666750" y="2312789"/>
            <a:ext cx="108585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666750" y="3295650"/>
            <a:ext cx="108585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666750" y="4278510"/>
            <a:ext cx="108585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666750" y="2303264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666750" y="2303264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666750" y="3286125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666750" y="3286125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666750" y="4268985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666750" y="4268985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666750" y="5251846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666750" y="5251846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0" name="Google Shape;28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" y="167744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3"/>
          <p:cNvSpPr txBox="1"/>
          <p:nvPr/>
        </p:nvSpPr>
        <p:spPr>
          <a:xfrm>
            <a:off x="1762125" y="1670893"/>
            <a:ext cx="97631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https://img.freepik.com/premium-photo/wide-shot-modern-fashion-shop-interior_249974-19178.jpg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1762125" y="1916608"/>
            <a:ext cx="97631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www.magnific.com</a:t>
            </a:r>
            <a:endParaRPr/>
          </a:p>
        </p:txBody>
      </p:sp>
      <p:pic>
        <p:nvPicPr>
          <p:cNvPr descr="image.png" id="283" name="Google Shape;28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56133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3"/>
          <p:cNvSpPr txBox="1"/>
          <p:nvPr/>
        </p:nvSpPr>
        <p:spPr>
          <a:xfrm>
            <a:off x="1762125" y="2455664"/>
            <a:ext cx="97631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https://media.istockphoto.com/id/1218433118/photo/womens-light-blouse-isolated-on-white-background.jpg?s=612x612&amp;w=0&amp;k=20&amp;c=sxhAMhOHwcyKrXXaI1vQMr4y00PypbOMABROW2YwmAE=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1762125" y="2899469"/>
            <a:ext cx="97631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www.istockphoto.com</a:t>
            </a:r>
            <a:endParaRPr/>
          </a:p>
        </p:txBody>
      </p:sp>
      <p:pic>
        <p:nvPicPr>
          <p:cNvPr descr="image.png" id="286" name="Google Shape;28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354419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3"/>
          <p:cNvSpPr txBox="1"/>
          <p:nvPr/>
        </p:nvSpPr>
        <p:spPr>
          <a:xfrm>
            <a:off x="1762125" y="3438525"/>
            <a:ext cx="97631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https://img.magnific.com/free-photo/portrait-beautiful-caucasian-smiling-brunette-woman-model-bright-pink-blue-summer-stylish-clothes-isolated-white-background_158538-2899.jpg?semt=ais_hybrid&amp;w=740&amp;q=80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1762125" y="3882330"/>
            <a:ext cx="97631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www.magnific.com</a:t>
            </a:r>
            <a:endParaRPr/>
          </a:p>
        </p:txBody>
      </p:sp>
      <p:pic>
        <p:nvPicPr>
          <p:cNvPr descr="image.png" id="289" name="Google Shape;28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452705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3"/>
          <p:cNvSpPr txBox="1"/>
          <p:nvPr/>
        </p:nvSpPr>
        <p:spPr>
          <a:xfrm>
            <a:off x="1762125" y="4421385"/>
            <a:ext cx="97631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https://banner2.cleanpng.com/20240413/eqb/transparent-formal-shirt-grey-shirt-long-sleeve-button-up-coll-grey-buttonless-long-sleeve-shirt-modern-style661af838ceafd1.70489298.webp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1762125" y="4865191"/>
            <a:ext cx="97631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www.cleanpng.com</a:t>
            </a:r>
            <a:endParaRPr/>
          </a:p>
        </p:txBody>
      </p:sp>
      <p:pic>
        <p:nvPicPr>
          <p:cNvPr descr="image.png" id="292" name="Google Shape;292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" y="550991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3"/>
          <p:cNvSpPr txBox="1"/>
          <p:nvPr/>
        </p:nvSpPr>
        <p:spPr>
          <a:xfrm>
            <a:off x="1762125" y="5404246"/>
            <a:ext cx="97631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https://plus.unsplash.com/premium_photo-1764691235091-ded85505e95b?fm=jpg&amp;q=60&amp;w=3000&amp;auto=format&amp;fit=crop&amp;ixlib=rb-4.1.0&amp;ixid=M3wxMjA3fDB8MHxwaG90by1wYWdlfHx8fGVufDB8fHx8fA%3D%3D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1762125" y="5848052"/>
            <a:ext cx="97631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unsplash.com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